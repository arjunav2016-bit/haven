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x 11"/>
          <p:cNvSpPr/>
          <p:nvPr/>
        </p:nvSpPr>
        <p:spPr>
          <a:xfrm>
            <a:off x="800000" y="700000"/>
            <a:ext cx="10592000" cy="60000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tIns="120000" bIns="120000" lIns="160000" rIns="160000"/>
          <a:lstStyle/>
          <a:p>
            <a:r>
              <a:rPr sz="1400" b="1">
                <a:solidFill>
                  <a:srgbClr val="4338CA"/>
                </a:solidFill>
                <a:latin typeface="Segoe UI Semibold"/>
              </a:rPr>
              <a:t>CSL203 / CSL205 OBJECT ORIENTED PROGRAMMING (JAVA) • ACADEMIC EVALUATION</a:t>
            </a:r>
          </a:p>
        </p:txBody>
      </p:sp>
      <p:sp>
        <p:nvSpPr>
          <p:cNvPr id="12" name="Text 12"/>
          <p:cNvSpPr/>
          <p:nvPr/>
        </p:nvSpPr>
        <p:spPr>
          <a:xfrm>
            <a:off x="800000" y="1500000"/>
            <a:ext cx="10592000" cy="1300000"/>
          </a:xfrm>
        </p:spPr>
        <p:txBody>
          <a:bodyPr tIns="0" bIns="0" lIns="0" rIns="0"/>
          <a:lstStyle/>
          <a:p>
            <a:r>
              <a:rPr sz="5200" b="1">
                <a:solidFill>
                  <a:srgbClr val="1E293B"/>
                </a:solidFill>
                <a:latin typeface="Segoe UI Semibold"/>
              </a:rPr>
              <a:t>HAVEN</a:t>
            </a:r>
          </a:p>
          <a:p>
            <a:r>
              <a:rPr sz="2400" b="1">
                <a:solidFill>
                  <a:srgbClr val="4338CA"/>
                </a:solidFill>
                <a:latin typeface="Segoe UI"/>
              </a:rPr>
              <a:t>Campus Accommodation &amp; Student Housing Platform</a:t>
            </a:r>
          </a:p>
        </p:txBody>
      </p:sp>
      <p:sp>
        <p:nvSpPr>
          <p:cNvPr id="13" name="Para 13"/>
          <p:cNvSpPr/>
          <p:nvPr/>
        </p:nvSpPr>
        <p:spPr>
          <a:xfrm>
            <a:off x="800000" y="2800000"/>
            <a:ext cx="10592000" cy="600000"/>
          </a:xfrm>
        </p:spPr>
        <p:txBody>
          <a:bodyPr tIns="0" bIns="0" lIns="0" rIns="0"/>
          <a:lstStyle/>
          <a:p>
            <a:r>
              <a:rPr sz="1400">
                <a:solidFill>
                  <a:srgbClr val="475569"/>
                </a:solidFill>
                <a:latin typeface="Segoe UI"/>
              </a:rPr>
              <a:t>A Production-Grade Desktop System implementing 14 Design Patterns, Subtype Cost Polymorphism, Embedded Geospatial Maps, and Offline-Resilient Dual-Engine Persistence.</a:t>
            </a:r>
          </a:p>
        </p:txBody>
      </p:sp>
      <p:sp>
        <p:nvSpPr>
          <p:cNvPr id="14" name="Card 14"/>
          <p:cNvSpPr/>
          <p:nvPr/>
        </p:nvSpPr>
        <p:spPr>
          <a:xfrm>
            <a:off x="800000" y="3700000"/>
            <a:ext cx="2450000" cy="17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STUDENT / PRESENTER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Minod &amp; Project Team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B.Tech Computer Science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Semester 3 (S3 OOP Lab)</a:t>
            </a:r>
          </a:p>
        </p:txBody>
      </p:sp>
      <p:sp>
        <p:nvSpPr>
          <p:cNvPr id="15" name="Card 15"/>
          <p:cNvSpPr/>
          <p:nvPr/>
        </p:nvSpPr>
        <p:spPr>
          <a:xfrm>
            <a:off x="3510000" y="3700000"/>
            <a:ext cx="2450000" cy="17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INSTITUTION &amp; LAB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SCT College of Engineering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Dept. of Computer Science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Trivandrum, Kerala</a:t>
            </a:r>
          </a:p>
        </p:txBody>
      </p:sp>
      <p:sp>
        <p:nvSpPr>
          <p:cNvPr id="16" name="Card 16"/>
          <p:cNvSpPr/>
          <p:nvPr/>
        </p:nvSpPr>
        <p:spPr>
          <a:xfrm>
            <a:off x="6220000" y="3700000"/>
            <a:ext cx="2450000" cy="17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SOFTWARE ARCHITECTURE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14 GoF Design Patterns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Dual MongoDB + JSON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Pure Java Swing Desktop</a:t>
            </a:r>
          </a:p>
        </p:txBody>
      </p:sp>
      <p:sp>
        <p:nvSpPr>
          <p:cNvPr id="17" name="Card 17"/>
          <p:cNvSpPr/>
          <p:nvPr/>
        </p:nvSpPr>
        <p:spPr>
          <a:xfrm>
            <a:off x="8930000" y="3700000"/>
            <a:ext cx="2450000" cy="17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VERIFICATION &amp; PROOF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34/34 Automated Tests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&lt; 2s Offline Fallback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100% Invariant Compliant</a:t>
            </a:r>
          </a:p>
        </p:txBody>
      </p:sp>
      <p:sp>
        <p:nvSpPr>
          <p:cNvPr id="18" name="Footer 18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19" name="SlideNum 19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 20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EXECUTIVE SUMMARY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Abstract &amp; Project Overview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Bridging Kerala engineering campus housing friction with clean OOP architecture</a:t>
            </a:r>
          </a:p>
        </p:txBody>
      </p:sp>
      <p:sp>
        <p:nvSpPr>
          <p:cNvPr id="21" name="Box 21"/>
          <p:cNvSpPr/>
          <p:nvPr/>
        </p:nvSpPr>
        <p:spPr>
          <a:xfrm>
            <a:off x="800000" y="1750000"/>
            <a:ext cx="3300000" cy="95000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tIns="120000" bIns="120000" lIns="160000" rIns="160000"/>
          <a:lstStyle/>
          <a:p>
            <a:r>
              <a:rPr sz="2400" b="1">
                <a:solidFill>
                  <a:srgbClr val="4338CA"/>
                </a:solidFill>
                <a:latin typeface="Segoe UI Semibold"/>
              </a:rPr>
              <a:t>60%+ RELOCATION</a:t>
            </a:r>
          </a:p>
          <a:p>
            <a:r>
              <a:rPr sz="1150">
                <a:solidFill>
                  <a:srgbClr val="475569"/>
                </a:solidFill>
                <a:latin typeface="Segoe UI"/>
              </a:rPr>
              <a:t>Students relocate yearly seeking housing near SCTCE/CET</a:t>
            </a:r>
          </a:p>
        </p:txBody>
      </p:sp>
      <p:sp>
        <p:nvSpPr>
          <p:cNvPr id="22" name="Box 22"/>
          <p:cNvSpPr/>
          <p:nvPr/>
        </p:nvSpPr>
        <p:spPr>
          <a:xfrm>
            <a:off x="4446000" y="1750000"/>
            <a:ext cx="3300000" cy="95000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tIns="120000" bIns="120000" lIns="160000" rIns="160000"/>
          <a:lstStyle/>
          <a:p>
            <a:r>
              <a:rPr sz="2400" b="1">
                <a:solidFill>
                  <a:srgbClr val="059669"/>
                </a:solidFill>
                <a:latin typeface="Segoe UI Semibold"/>
              </a:rPr>
              <a:t>14 DESIGN PATTERNS</a:t>
            </a:r>
          </a:p>
          <a:p>
            <a:r>
              <a:rPr sz="1150">
                <a:solidFill>
                  <a:srgbClr val="475569"/>
                </a:solidFill>
                <a:latin typeface="Segoe UI"/>
              </a:rPr>
              <a:t>Rigorous software engineering design catalog applied</a:t>
            </a:r>
          </a:p>
        </p:txBody>
      </p:sp>
      <p:sp>
        <p:nvSpPr>
          <p:cNvPr id="23" name="Box 23"/>
          <p:cNvSpPr/>
          <p:nvPr/>
        </p:nvSpPr>
        <p:spPr>
          <a:xfrm>
            <a:off x="8092000" y="1750000"/>
            <a:ext cx="3300000" cy="950000"/>
          </a:xfrm>
          <a:prstGeom prst="roundRect">
            <a:avLst>
              <a:gd name="adj" fmla="val 25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tIns="120000" bIns="120000" lIns="160000" rIns="160000"/>
          <a:lstStyle/>
          <a:p>
            <a:r>
              <a:rPr sz="2400" b="1">
                <a:solidFill>
                  <a:srgbClr val="D97706"/>
                </a:solidFill>
                <a:latin typeface="Segoe UI Semibold"/>
              </a:rPr>
              <a:t>&lt; 2s OFFLINE FALLBACK</a:t>
            </a:r>
          </a:p>
          <a:p>
            <a:r>
              <a:rPr sz="1150">
                <a:solidFill>
                  <a:srgbClr val="475569"/>
                </a:solidFill>
                <a:latin typeface="Segoe UI"/>
              </a:rPr>
              <a:t>Instant automatic switch from MongoDB to JSON store</a:t>
            </a:r>
          </a:p>
        </p:txBody>
      </p:sp>
      <p:sp>
        <p:nvSpPr>
          <p:cNvPr id="24" name="Card 24"/>
          <p:cNvSpPr/>
          <p:nvPr/>
        </p:nvSpPr>
        <p:spPr>
          <a:xfrm>
            <a:off x="800000" y="2850000"/>
            <a:ext cx="5150000" cy="33000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🚨 The Real-World Problem Space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Information Asymmetry: Hostels operate in fragmented silos with zero centralized verification.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Opaque Fee Structures: Compulsory mess fees and utility bills hidden until after room check-in.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Broker Exploitation: Third-party middlemen demand non-refundable commissions of ₹2,000 - ₹5,000.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Phantom Vacancies: Paper-based rosters cause double-booking disputes and wasted travel hours.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Presentation Fragility: Cloud-reliant web apps freeze during lab exams due to campus firewall rules.</a:t>
            </a:r>
          </a:p>
        </p:txBody>
      </p:sp>
      <p:sp>
        <p:nvSpPr>
          <p:cNvPr id="25" name="Card 25"/>
          <p:cNvSpPr/>
          <p:nvPr/>
        </p:nvSpPr>
        <p:spPr>
          <a:xfrm>
            <a:off x="6242000" y="2850000"/>
            <a:ext cx="5150000" cy="330000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💡 The HAVEN Engineering Solution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Subtype Cost Polymorphism: Specialized pricing for Hostel (mess + curfew) vs PG (utilities + food).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Embedded Geospatial Canvas: JXMapViewer2 OpenStreetMap tile viewer with color-coded vacancy pins.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Dual-Engine Repository: Seamless automatic fallback to local JSON if MongoDB is unreachable.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Guarded State Machine: 5-stage enquiry lifecycle strictly protecting booking transactions.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Automated Invariant Verification: 34 JUnit-style automated tests proving domain correctness.</a:t>
            </a:r>
          </a:p>
        </p:txBody>
      </p:sp>
      <p:sp>
        <p:nvSpPr>
          <p:cNvPr id="26" name="Footer 26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27" name="SlideNum 27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Header 28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1: INTRODUCTION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Background &amp; Problem Statement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Analyzing the student accommodation crisis around engineering institutions</a:t>
            </a:r>
          </a:p>
        </p:txBody>
      </p:sp>
      <p:sp>
        <p:nvSpPr>
          <p:cNvPr id="29" name="Card 29"/>
          <p:cNvSpPr/>
          <p:nvPr/>
        </p:nvSpPr>
        <p:spPr>
          <a:xfrm>
            <a:off x="800000" y="1800000"/>
            <a:ext cx="3350000" cy="34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1. Fragmented Registry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Local Context: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Around SCTCE Pappanamcode, Kaimanam, and Nemom, dozens of private hostels operate without digital discoverability.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Consequence: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Incoming freshmen and parents must walk door-to-door in unfamiliar neighborhoods under severe time constraints.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Outcome: Complete lack of institutional verification or safety checks.</a:t>
            </a:r>
          </a:p>
        </p:txBody>
      </p:sp>
      <p:sp>
        <p:nvSpPr>
          <p:cNvPr id="30" name="Card 30"/>
          <p:cNvSpPr/>
          <p:nvPr/>
        </p:nvSpPr>
        <p:spPr>
          <a:xfrm>
            <a:off x="4420000" y="1800000"/>
            <a:ext cx="3350000" cy="34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2. Financial Exploitation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Middlemen Friction: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Informal brokers exploit urgency, demanding up to one month's rent as non-refundable brokerage fees.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Hidden Surcharges: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Hostel wardens impose compulsory mess charges and electrical surcharges without prior written notice.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Outcome: Heavy financial strain on out-of-district engineering students.</a:t>
            </a:r>
          </a:p>
        </p:txBody>
      </p:sp>
      <p:sp>
        <p:nvSpPr>
          <p:cNvPr id="31" name="Card 31"/>
          <p:cNvSpPr/>
          <p:nvPr/>
        </p:nvSpPr>
        <p:spPr>
          <a:xfrm>
            <a:off x="8040000" y="1800000"/>
            <a:ext cx="3350000" cy="34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3. Unreliable Inventory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Manual Rosters: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Vacancy tracking relies on paper logbooks, whiteboard notices, or word-of-mouth updates.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Stale Information: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Vacancies reach zero while flyers remain posted on campus noticeboards, leading to overbooking disputes.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Outcome: Frustrating search loops and zero transparency.</a:t>
            </a:r>
          </a:p>
        </p:txBody>
      </p:sp>
      <p:sp>
        <p:nvSpPr>
          <p:cNvPr id="32" name="Box 32"/>
          <p:cNvSpPr/>
          <p:nvPr/>
        </p:nvSpPr>
        <p:spPr>
          <a:xfrm>
            <a:off x="800000" y="5350000"/>
            <a:ext cx="10592000" cy="80000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tIns="120000" bIns="120000" lIns="160000" rIns="160000"/>
          <a:lstStyle/>
          <a:p>
            <a:r>
              <a:rPr sz="1350" b="1">
                <a:solidFill>
                  <a:srgbClr val="312E81"/>
                </a:solidFill>
                <a:latin typeface="Segoe UI Semibold"/>
              </a:rPr>
              <a:t>THE CORE CHALLENGE: Build an offline-resilient, type-safe Java desktop platform eliminating middlemen and ensuring 100% data integrity.</a:t>
            </a:r>
          </a:p>
        </p:txBody>
      </p:sp>
      <p:sp>
        <p:nvSpPr>
          <p:cNvPr id="33" name="Footer 33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34" name="SlideNum 34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Header 35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1: PROJECT FORMULATION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Objectives &amp; Scope Boundaries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Target deliverables and clearly defined engineering scope</a:t>
            </a:r>
          </a:p>
        </p:txBody>
      </p:sp>
      <p:sp>
        <p:nvSpPr>
          <p:cNvPr id="36" name="Card 36"/>
          <p:cNvSpPr/>
          <p:nvPr/>
        </p:nvSpPr>
        <p:spPr>
          <a:xfrm>
            <a:off x="800000" y="1800000"/>
            <a:ext cx="51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🎯 Primary Project Objectives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Role-Based Access Control: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Dedicated secure workspaces for Students (browse, filter, book), Wardens (manage rooms, respond), and Admins (moderate, audit).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Polymorphic Pricing Calculation: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Automated total monthly expenditure computation factoring sharing multipliers, food charges, and curfews.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Geospatial Landmark Pinpointing: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Interactive offline-ready map navigation centered on SCTCE, CET, and other major colleges.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Network-Fault Resilience: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Zero data loss or UI freezes through a dual MongoDB and JSON persistence engine.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Academic Rigor &amp; Invariant Safety: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Guaranteed consistency validated through 34 automated unit test cases.</a:t>
            </a:r>
          </a:p>
        </p:txBody>
      </p:sp>
      <p:sp>
        <p:nvSpPr>
          <p:cNvPr id="37" name="Card 37"/>
          <p:cNvSpPr/>
          <p:nvPr/>
        </p:nvSpPr>
        <p:spPr>
          <a:xfrm>
            <a:off x="6242000" y="1800000"/>
            <a:ext cx="51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📦 Implementation Scope Demarcation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✅ Fully Implemented (In-Scope):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Dynamic multi-criteria filter (rent slider, distance, curfew, rating).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5-State Enquiry Machine with terminal state transitions.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Admin Command Pattern with dual-stack Undo/Redo.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Booking receipt &amp; applicant roster formatted report exports.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JXMapViewer2 local tile caching &amp; fallback coordinate plotting.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⏳ Future Enhancements (Out-of-Scope):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Real-time payment gateway integration (UPI / NetBanking).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Mobile companion applications (Flutter for Android/iOS).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Direct SMS/WhatsApp automated notification webhooks.</a:t>
            </a:r>
          </a:p>
        </p:txBody>
      </p:sp>
      <p:sp>
        <p:nvSpPr>
          <p:cNvPr id="38" name="Footer 38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39" name="SlideNum 39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Header 40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3: METHODOLOGY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System Architecture &amp; Layered Design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Clean 4-tier desktop architecture decoupled by an asynchronous Event Bus</a:t>
            </a:r>
          </a:p>
        </p:txBody>
      </p:sp>
      <p:sp>
        <p:nvSpPr>
          <p:cNvPr id="41" name="Card 41"/>
          <p:cNvSpPr/>
          <p:nvPr/>
        </p:nvSpPr>
        <p:spPr>
          <a:xfrm>
            <a:off x="800000" y="1800000"/>
            <a:ext cx="2450000" cy="150000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TIER 1: PRESENTATION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Swing Desktop GUI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MainFrame &amp; Cards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ListingCardPanel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MapPanel (JXMapViewer2)</a:t>
            </a:r>
          </a:p>
        </p:txBody>
      </p:sp>
      <p:sp>
        <p:nvSpPr>
          <p:cNvPr id="42" name="Card 42"/>
          <p:cNvSpPr/>
          <p:nvPr/>
        </p:nvSpPr>
        <p:spPr>
          <a:xfrm>
            <a:off x="3510000" y="1800000"/>
            <a:ext cx="2450000" cy="150000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TIER 2: FACADE / BUS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DAO Service Facades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HostelDAO, UserDAO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EnquiryDAO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HavenEventBus (Pub/Sub)</a:t>
            </a:r>
          </a:p>
        </p:txBody>
      </p:sp>
      <p:sp>
        <p:nvSpPr>
          <p:cNvPr id="43" name="Card 43"/>
          <p:cNvSpPr/>
          <p:nvPr/>
        </p:nvSpPr>
        <p:spPr>
          <a:xfrm>
            <a:off x="6220000" y="1800000"/>
            <a:ext cx="2450000" cy="1500000"/>
          </a:xfrm>
          <a:prstGeom prst="roundRect">
            <a:avLst>
              <a:gd name="adj" fmla="val 25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TIER 3: DOMAIN MODELS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Encapsulated Entities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Hostel &amp; PG Models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EnquiryState Machine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Decorator Wrappers</a:t>
            </a:r>
          </a:p>
        </p:txBody>
      </p:sp>
      <p:sp>
        <p:nvSpPr>
          <p:cNvPr id="44" name="Card 44"/>
          <p:cNvSpPr/>
          <p:nvPr/>
        </p:nvSpPr>
        <p:spPr>
          <a:xfrm>
            <a:off x="8930000" y="1800000"/>
            <a:ext cx="2450000" cy="1500000"/>
          </a:xfrm>
          <a:prstGeom prst="roundRect">
            <a:avLst>
              <a:gd name="adj" fmla="val 2500"/>
            </a:avLst>
          </a:prstGeom>
          <a:solidFill>
            <a:srgbClr val="FDF4FF"/>
          </a:solidFill>
          <a:ln w="12700">
            <a:solidFill>
              <a:srgbClr val="F0ABFC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TIER 4: REPOSITORIES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Abstract Repository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MongoRepositoryFactory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InMemoryFactory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Dual Engine Fallback</a:t>
            </a:r>
          </a:p>
        </p:txBody>
      </p:sp>
      <p:sp>
        <p:nvSpPr>
          <p:cNvPr id="45" name="Card 45"/>
          <p:cNvSpPr/>
          <p:nvPr/>
        </p:nvSpPr>
        <p:spPr>
          <a:xfrm>
            <a:off x="800000" y="3450000"/>
            <a:ext cx="10592000" cy="26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🔄 Unidirectional Data Flow &amp; Event Dispatch Sequence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1. User Action: Student adjusts rent slider or submits an accommodation enquiry on the UI.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2. Facade Delegation: View invokes type-safe methods on HostelDAO or EnquiryDAO (no direct DB access).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3. Repository Routing: DAO communicates via Repository&lt;T, ID&gt; interface to active repository engine.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4. Fault-Tolerant Persistence: Engine writes atomically to MongoDB; automatically falls back to JSON if socket fails.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5. Asynchronous Event Dispatch: HavenEventBus publishes typed AccommodationEvent or EnquiryEvent.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6. Reactive UI Refresh: Subscribed observer panels (ListingCard, WardenDashboard) refresh instantaneously.</a:t>
            </a:r>
          </a:p>
        </p:txBody>
      </p:sp>
      <p:sp>
        <p:nvSpPr>
          <p:cNvPr id="46" name="Footer 46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47" name="SlideNum 47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Header 48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3: METHODOLOGY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Technology Stack &amp; Technical Justification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Selection criteria ensuring academic rigor, deterministic performance, and portability</a:t>
            </a:r>
          </a:p>
        </p:txBody>
      </p:sp>
      <p:graphicFrame>
        <p:nvGraphicFramePr>
          <p:cNvPr id="49" name="Table 49"/>
          <p:cNvGraphicFramePr>
            <a:graphicFrameLocks noGrp="1"/>
          </p:cNvGraphicFramePr>
          <p:nvPr/>
        </p:nvGraphicFramePr>
        <p:xfrm>
          <a:off x="800000" y="1800000"/>
          <a:ext cx="10592000" cy="4300000"/>
        </p:xfrm>
        <a:graphic>
          <a:graphicData uri="http://schemas.openxmlformats.org/drawingml/2006/table">
            <a:tbl>
              <a:tblPr/>
              <a:tblGrid>
                <a:gridCol w="1800000"/>
                <a:gridCol w="2400000"/>
                <a:gridCol w="1400000"/>
                <a:gridCol w="4992000"/>
              </a:tblGrid>
              <a:tr h="380000"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Layer / Concern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Selected Technology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Version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Engineering Rationale &amp; Justification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Core 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Java SE (OpenJDK)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17 / 21 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Strict static typing, OOP records, strong memory model, cross-platform portability.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GUI Toolkit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Java Swing &amp; Java2D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JDK 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Zero external dependencies, native desktop performance, custom pixel-painted map markers.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Geospatial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JXMapViewer2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Embedded OpenStreetMap tile client with local disk caching and offline coordinate plotting.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Primary 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MongoDB Java Driver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3.12.14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Document model naturally maps nested accommodation amenities, reviews, and geo coordinates.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Offline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JSON File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Standard 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Embedded JSON store guarantees 100% functionality without internet or MongoDB service.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Security &amp; Auth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SHA-256 Hashing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Java Crypto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Irreversible salted cryptographic password hashing implemented in SecurityUtils.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0" name="Footer 50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51" name="SlideNum 51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Header 52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3: OOP FOUNDATIONS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The Four Pillars of OOP in HAVEN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Concrete codebase anchors demonstrating core object-oriented software engineering principles</a:t>
            </a:r>
          </a:p>
        </p:txBody>
      </p:sp>
      <p:sp>
        <p:nvSpPr>
          <p:cNvPr id="53" name="Card 53"/>
          <p:cNvSpPr/>
          <p:nvPr/>
        </p:nvSpPr>
        <p:spPr>
          <a:xfrm>
            <a:off x="800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🔒 1. Encapsulation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All state variables in Accommodation, User, and Enquiry are strictly private.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Invariant setters: setBaseRent(rent) enforces rent &gt; 0; setVacancies(v) enforces v &gt;= 0.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Defensive copies: getAmenities() returns new ArrayList&lt;&gt;(amenities) preventing external mutation.</a:t>
            </a:r>
          </a:p>
        </p:txBody>
      </p:sp>
      <p:sp>
        <p:nvSpPr>
          <p:cNvPr id="54" name="Card 54"/>
          <p:cNvSpPr/>
          <p:nvPr/>
        </p:nvSpPr>
        <p:spPr>
          <a:xfrm>
            <a:off x="6242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🧩 2. Abstraction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Generic interface Repository&lt;T, ID&gt; defines storage contracts without exposing DB details.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Abstract base class Accommodation declares abstract double calculateTotalMonthlyCost().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ReportGenerator defines the template skeleton while abstracting body content formatting.</a:t>
            </a:r>
          </a:p>
        </p:txBody>
      </p:sp>
      <p:sp>
        <p:nvSpPr>
          <p:cNvPr id="55" name="Card 55"/>
          <p:cNvSpPr/>
          <p:nvPr/>
        </p:nvSpPr>
        <p:spPr>
          <a:xfrm>
            <a:off x="800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🌳 3. Inheritance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Concrete classes Hostel and PG extend the abstract Accommodation superclass.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Student, Owner, and Admin extend the User base class to reuse authentication identity.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AccommodationDecorator inherits Accommodation to wrap stays transparently.</a:t>
            </a:r>
          </a:p>
        </p:txBody>
      </p:sp>
      <p:sp>
        <p:nvSpPr>
          <p:cNvPr id="56" name="Card 56"/>
          <p:cNvSpPr/>
          <p:nvPr/>
        </p:nvSpPr>
        <p:spPr>
          <a:xfrm>
            <a:off x="6242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⚡ 4. Polymorphism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Dynamic method dispatch: Accommodation.calculateTotalMonthlyCost() executed polymorphically.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Hostel computes base rent + fixed mess fee - sharing discount.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PG computes base rent + utility charges + optional food plan fees.</a:t>
            </a:r>
          </a:p>
        </p:txBody>
      </p:sp>
      <p:sp>
        <p:nvSpPr>
          <p:cNvPr id="57" name="Footer 57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58" name="SlideNum 58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Header 59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3: DESIGN PATTERNS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14 Design Patterns Master Catalog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Full breakdown of GoF and Enterprise architectural patterns implemented in Haven</a:t>
            </a:r>
          </a:p>
        </p:txBody>
      </p:sp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800000" y="1800000"/>
          <a:ext cx="10592000" cy="4300000"/>
        </p:xfrm>
        <a:graphic>
          <a:graphicData uri="http://schemas.openxmlformats.org/drawingml/2006/table">
            <a:tbl>
              <a:tblPr/>
              <a:tblGrid>
                <a:gridCol w="1800000"/>
                <a:gridCol w="1400000"/>
                <a:gridCol w="3600000"/>
                <a:gridCol w="3792000"/>
              </a:tblGrid>
              <a:tr h="380000"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Pattern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Core Class / Interface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Architectural Role in Haven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Singleton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Creational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MongoDBConnection, FilePersistenceManager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Guarantees single shared connection pool and persistence manager.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Factory Method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Creational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RepositoryFactory.createRepository()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Encapsulates repository creation based on active storage engine.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Abstract Factory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Creational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MongoRepositoryFactory, InMemoryFactory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Creates complete families of DAO repositories interchangeably.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Builder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Creational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Accommodation.Builder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Constructs complex accommodation objects with 15+ flexible parameters.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Decorator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AccommodationDecorator, ACRoomDecorator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Dynamically attaches add-on amenities (AC, WiFi, Mess) with pricing.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Composite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Structural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AmenityComposite, LeafAmenity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Treats individual and bundled accommodation amenities uniformly.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GoogleMapsAdapter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Bridges GeoPoint coordinates into browser and desktop navigation URLs.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Facade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Structural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HostelDAO, UserDAO, EnquiryDAO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Simplifies complex multi-repository operations into high-level APIs.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Observer / 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Behavioral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HavenEventBus, AccommodationObserver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Publishes real-time vacancy and enquiry events across decoupled views.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Behavioral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EnquiryState (Pending, Approved, Completed)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Enforces strictly valid enquiry lifecycle transitions and terminal states.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Behavioral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FilterStrategy, PriceFilter, AmenityFilter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Pluggable algorithms for dynamic multi-criteria listing search.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Behavioral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AdminCommand, DeleteListingCommand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Encapsulates administrative actions with dual-stack Undo/Redo capability.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Template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Behavioral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ReportGenerator, BookingReceiptGenerator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Defines invariant document skeleton with customizable content formatting.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Footer 61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62" name="SlideNum 62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Header 63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3: DESIGN PATTERNS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Creational Patterns Deep-Dive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Encapsulating object creation, lifecycle control, and system configurability</a:t>
            </a:r>
          </a:p>
        </p:txBody>
      </p:sp>
      <p:sp>
        <p:nvSpPr>
          <p:cNvPr id="64" name="Card 64"/>
          <p:cNvSpPr/>
          <p:nvPr/>
        </p:nvSpPr>
        <p:spPr>
          <a:xfrm>
            <a:off x="800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1. Singleton Pattern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Classes: MongoDBConnection, FilePersistenceManager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Ensures exactly one MongoClient connection pool exists across the application lifecycle.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Lazy thread-safe initialization with double-checked locking idiom.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2-second fail-fast timeout preventing blocking EDT thread.</a:t>
            </a:r>
          </a:p>
        </p:txBody>
      </p:sp>
      <p:sp>
        <p:nvSpPr>
          <p:cNvPr id="65" name="Card 65"/>
          <p:cNvSpPr/>
          <p:nvPr/>
        </p:nvSpPr>
        <p:spPr>
          <a:xfrm>
            <a:off x="6242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2. Factory Method Pattern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Classes: RepositoryFactory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Defines factory method createAccommodationRepository(StorageMode).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Shields client classes from knowing whether storage is backed by Mongo or JSON.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Simplifies switching between testing and production runtime configurations.</a:t>
            </a:r>
          </a:p>
        </p:txBody>
      </p:sp>
      <p:sp>
        <p:nvSpPr>
          <p:cNvPr id="66" name="Card 66"/>
          <p:cNvSpPr/>
          <p:nvPr/>
        </p:nvSpPr>
        <p:spPr>
          <a:xfrm>
            <a:off x="800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3. Abstract Factory Pattern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Classes: RepositoryFactory (interface), MongoRepositoryFactory, InMemoryRepositoryFactory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Provides factory interfaces to produce complete sets of 7 repositories.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Guarantees Accommodation, User, and Enquiry repositories always use the same storage engine.</a:t>
            </a:r>
          </a:p>
        </p:txBody>
      </p:sp>
      <p:sp>
        <p:nvSpPr>
          <p:cNvPr id="67" name="Card 67"/>
          <p:cNvSpPr/>
          <p:nvPr/>
        </p:nvSpPr>
        <p:spPr>
          <a:xfrm>
            <a:off x="6242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4. Builder Pattern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Classes: Accommodation.Builder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Solves the telescoping constructor anti-pattern for 15+ property attributes.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Fluent method chaining: builder.name("Green Haven").rent(6500).sharing(2).build().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Validates domain invariants (rent &gt; 0, vacancies &gt;= 0) before instantiating.</a:t>
            </a:r>
          </a:p>
        </p:txBody>
      </p:sp>
      <p:sp>
        <p:nvSpPr>
          <p:cNvPr id="68" name="Footer 68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69" name="SlideNum 69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Header 70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3: DESIGN PATTERNS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Structural Patterns Deep-Dive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Composing clean object hierarchies and bridging external subsystems</a:t>
            </a:r>
          </a:p>
        </p:txBody>
      </p:sp>
      <p:sp>
        <p:nvSpPr>
          <p:cNvPr id="71" name="Card 71"/>
          <p:cNvSpPr/>
          <p:nvPr/>
        </p:nvSpPr>
        <p:spPr>
          <a:xfrm>
            <a:off x="800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5. Decorator Pattern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Classes: AccommodationDecorator, ACRoomDecorator, MessPlanDecorator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Dynamically adds custom amenities and surcharges without modifying base classes.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Transparently wraps calculateTotalMonthlyCost() to accumulate surcharge fees.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Follows Open/Closed Principle: add new amenities without editing existing code.</a:t>
            </a:r>
          </a:p>
        </p:txBody>
      </p:sp>
      <p:sp>
        <p:nvSpPr>
          <p:cNvPr id="72" name="Card 72"/>
          <p:cNvSpPr/>
          <p:nvPr/>
        </p:nvSpPr>
        <p:spPr>
          <a:xfrm>
            <a:off x="6242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6. Composite Pattern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Classes: AmenityComponent, AmenityComposite, LeafAmenity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Allows grouping amenities into hierarchical bundles (e.g., Premium Comfort Pack).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Client views render individual and grouped amenities with a uniform interface.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Simplifies amenity validation and monthly fee computation.</a:t>
            </a:r>
          </a:p>
        </p:txBody>
      </p:sp>
      <p:sp>
        <p:nvSpPr>
          <p:cNvPr id="73" name="Card 73"/>
          <p:cNvSpPr/>
          <p:nvPr/>
        </p:nvSpPr>
        <p:spPr>
          <a:xfrm>
            <a:off x="800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7. Adapter Pattern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Classes: GoogleMapsAdapter, MapNavigationService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Converts internal GeoPoint(latitude, longitude) into external web navigation targets.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Automatically launches native system browser with exact direction queries.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Gracefully copies formatted coordinates to clipboard if browser launch is restricted.</a:t>
            </a:r>
          </a:p>
        </p:txBody>
      </p:sp>
      <p:sp>
        <p:nvSpPr>
          <p:cNvPr id="74" name="Card 74"/>
          <p:cNvSpPr/>
          <p:nvPr/>
        </p:nvSpPr>
        <p:spPr>
          <a:xfrm>
            <a:off x="6242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8. Facade Pattern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Classes: HostelDAO, UserDAO, EnquiryDAO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Unifies repository queries, invariant checks, and event dispatches behind single methods.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UI panels call hostelDAO.bookRoom(...) without dealing with repositories or events.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Dramatically reduces coupling between Swing presentation and storage tiers.</a:t>
            </a:r>
          </a:p>
        </p:txBody>
      </p:sp>
      <p:sp>
        <p:nvSpPr>
          <p:cNvPr id="75" name="Footer 75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76" name="SlideNum 76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Header 77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3: DESIGN PATTERNS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Behavioral Patterns Deep-Dive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Orchestrating state transitions, event publication, and reversible user actions</a:t>
            </a:r>
          </a:p>
        </p:txBody>
      </p:sp>
      <p:sp>
        <p:nvSpPr>
          <p:cNvPr id="78" name="Card 78"/>
          <p:cNvSpPr/>
          <p:nvPr/>
        </p:nvSpPr>
        <p:spPr>
          <a:xfrm>
            <a:off x="800000" y="1800000"/>
            <a:ext cx="33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9 &amp; 10. Observer &amp; State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Observer / HavenEventBus: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Decoupled Pub/Sub event bus.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Dispatches AccommodationEvent and EnquiryEvent asynchronously.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ListingCardPanel and WardenDashboard auto-refresh on new bookings.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State Pattern (EnquiryState):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States: Pending -&gt; Under Review -&gt; Approved -&gt; Completed.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Terminal states: Rejected and Cancelled.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Disallows invalid state transitions (cannot approve a cancelled enquiry).</a:t>
            </a:r>
          </a:p>
        </p:txBody>
      </p:sp>
      <p:sp>
        <p:nvSpPr>
          <p:cNvPr id="79" name="Card 79"/>
          <p:cNvSpPr/>
          <p:nvPr/>
        </p:nvSpPr>
        <p:spPr>
          <a:xfrm>
            <a:off x="4420000" y="1800000"/>
            <a:ext cx="33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11 &amp; 12. Strategy &amp; Command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Strategy (FilterStrategy):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Dynamic filtering algorithms applied interchangeably.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PriceRangeStrategy, CurfewStrategy, RatingStrategy, AmenityStrategy.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Composed dynamically as students adjust filter controls.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Command (Admin Undo/Redo):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Admin actions encapsulated as Command objects (DeleteListingCommand).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Dual-stack history (Undo stack &amp; Redo stack).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Reversible admin moderation protecting accidental deletions.</a:t>
            </a:r>
          </a:p>
        </p:txBody>
      </p:sp>
      <p:sp>
        <p:nvSpPr>
          <p:cNvPr id="80" name="Card 80"/>
          <p:cNvSpPr/>
          <p:nvPr/>
        </p:nvSpPr>
        <p:spPr>
          <a:xfrm>
            <a:off x="8040000" y="1800000"/>
            <a:ext cx="33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13. Template Method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ReportGenerator Skeleton: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Base class defines invariant 5-step report document generation algorithm: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  1. writeHeader()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  2. writeMetadata()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  3. writeBody() [Abstract]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  4. writeFooter()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  5. exportDocument()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Subclasses: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BookingReceiptGenerator: Formats financial breakdown &amp; mess dues.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RosterReportGenerator: Formats registered warden occupant lists.</a:t>
            </a:r>
          </a:p>
        </p:txBody>
      </p:sp>
      <p:sp>
        <p:nvSpPr>
          <p:cNvPr id="81" name="Footer 81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82" name="SlideNum 82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Header 83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4: IMPLEMENTATION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Dual-Engine Persistence &amp; Offline Resilience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Engineering high availability for viva defense and restricted campus Wi-Fi environments</a:t>
            </a:r>
          </a:p>
        </p:txBody>
      </p:sp>
      <p:sp>
        <p:nvSpPr>
          <p:cNvPr id="84" name="Card 84"/>
          <p:cNvSpPr/>
          <p:nvPr/>
        </p:nvSpPr>
        <p:spPr>
          <a:xfrm>
            <a:off x="800000" y="1800000"/>
            <a:ext cx="51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🔌 The Lab Network Risk &amp; Mitigation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Critical Blocker Identified: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Standard MongoDB drivers block the Java Swing Event Dispatch Thread (EDT) for 30 seconds if MongoDB is offline or Wi-Fi is blocked.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Engineering Fix Applied: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1. Socket Timeouts: Configured serverSelectionTimeout(2000) and connectTimeout(2000).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2. Automatic Fallback: Catches MongoTimeoutException and immediately activates FilePersistenceManager.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3. Safe Type Casting: Added getDoubleSafe() to eliminate ClassCastException between BSON Integer and Double formats.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4. Image Caching: PropertyImageStorage utilizes ConcurrentHashMap icon caching to eliminate EDT scroll stutter.</a:t>
            </a:r>
          </a:p>
        </p:txBody>
      </p:sp>
      <p:sp>
        <p:nvSpPr>
          <p:cNvPr id="85" name="Card 85"/>
          <p:cNvSpPr/>
          <p:nvPr/>
        </p:nvSpPr>
        <p:spPr>
          <a:xfrm>
            <a:off x="6242000" y="1800000"/>
            <a:ext cx="51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🗺️ Geospatial Map Offline Architecture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JXMapViewer2 Resilience Strategy: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OpenStreetMap tile loading hangs indefinitely under college firewalls blocking generic Java user agents.</a:t>
            </a:r>
          </a:p>
          <a:p>
            <a:pPr sz="600"/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Implementation Details: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1. User-Agent Header: Set to "Haven-Campus-Housing/1.0" to prevent OSM server drop.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2. Local Disk Cache: Uses FileBasedLocalCache in data/cache/tiles for pre-cached map viewing.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3. Offline Grid Fallback: If network is unreachable, switches to EmptyTileFactory with a custom Java2D grid.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4. Landmark Pins: Paints color-coded pins (Green = vacancies &gt; 0, Red = full) with college reference markers.</a:t>
            </a:r>
          </a:p>
        </p:txBody>
      </p:sp>
      <p:sp>
        <p:nvSpPr>
          <p:cNvPr id="86" name="Footer 86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87" name="SlideNum 87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Header 88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4: IMPLEMENTATION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Core Application Modules &amp; Workflows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End-to-end user journeys supported across Student, Warden, and Administrator roles</a:t>
            </a:r>
          </a:p>
        </p:txBody>
      </p:sp>
      <p:sp>
        <p:nvSpPr>
          <p:cNvPr id="89" name="Card 89"/>
          <p:cNvSpPr/>
          <p:nvPr/>
        </p:nvSpPr>
        <p:spPr>
          <a:xfrm>
            <a:off x="800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1. Student Discovery &amp; Filtering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Dynamic 3-tier filter bar: Rent slider, radius (km), curfew time, and minimum rating.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Dual-view toggle: Switch between rich card grid and interactive JXMapViewer2 map pins.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One-click enquiry modal with custom notes, sharing choices, and add-on selections.</a:t>
            </a:r>
          </a:p>
        </p:txBody>
      </p:sp>
      <p:sp>
        <p:nvSpPr>
          <p:cNvPr id="90" name="Card 90"/>
          <p:cNvSpPr/>
          <p:nvPr/>
        </p:nvSpPr>
        <p:spPr>
          <a:xfrm>
            <a:off x="6242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2. Warden Listing &amp; Vacancy Control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Complete listing lifecycle: Create, update room counts, and upload interior/exterior photos.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Real-time vacancy decrement upon confirmed booking (preventing double-booking).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Dedicated enquiries table: Review student requests, accept, or decline with feedback.</a:t>
            </a:r>
          </a:p>
        </p:txBody>
      </p:sp>
      <p:sp>
        <p:nvSpPr>
          <p:cNvPr id="91" name="Card 91"/>
          <p:cNvSpPr/>
          <p:nvPr/>
        </p:nvSpPr>
        <p:spPr>
          <a:xfrm>
            <a:off x="800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3. Enquiry Negotiation &amp; State Machine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State guards enforce terminal states (cannot accept already cancelled enquiry).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Automatic audit trail timestamping state transitions from PENDING to COMPLETED.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Instant notification dispatches to warden and student via HavenEventBus.</a:t>
            </a:r>
          </a:p>
        </p:txBody>
      </p:sp>
      <p:sp>
        <p:nvSpPr>
          <p:cNvPr id="92" name="Card 92"/>
          <p:cNvSpPr/>
          <p:nvPr/>
        </p:nvSpPr>
        <p:spPr>
          <a:xfrm>
            <a:off x="6242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4. Admin Governance &amp; Undo/Redo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System-wide listing moderation: Suspend spam hostels or modify fraudulent records.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Command Pattern Undo/Redo: Revert accidental deletions with one click.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Export module: Generates formatted booking receipts and warden applicant rosters.</a:t>
            </a:r>
          </a:p>
        </p:txBody>
      </p:sp>
      <p:sp>
        <p:nvSpPr>
          <p:cNvPr id="93" name="Footer 93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94" name="SlideNum 94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Header 95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4: TESTING &amp; RESULTS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Automated Testing &amp; Invariant Defense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Comprehensive test suite proving behavioral correctness and edge-case resilience</a:t>
            </a:r>
          </a:p>
        </p:txBody>
      </p:sp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800000" y="1800000"/>
          <a:ext cx="10592000" cy="2400000"/>
        </p:xfrm>
        <a:graphic>
          <a:graphicData uri="http://schemas.openxmlformats.org/drawingml/2006/table">
            <a:tbl>
              <a:tblPr/>
              <a:tblGrid>
                <a:gridCol w="2400000"/>
                <a:gridCol w="1400000"/>
                <a:gridCol w="5392000"/>
                <a:gridCol w="1400000"/>
              </a:tblGrid>
              <a:tr h="380000"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Test Suite 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Test Count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Key Invariants Validated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tIns="70000" bIns="70000" lIns="100000" rIns="100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Domain Invariants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8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Rent &gt; 0, vacancies &gt;= 0, defensive amenity copying, subtype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PASSED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Design Patterns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6 Tests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Singleton uniqueness, State transition guards, Decorator price math.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PASSED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Persistence &amp;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10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Dual engine failover, MongoDB to JSON fallback, BSON safe casting.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PASSED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Security &amp; Edge Cases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10 Tests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SHA-256 salt verification, vacancy exhaustion exception, null safety.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PASSED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TOTAL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34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Zero failures, zero exceptions, deterministic suite execution.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60000" bIns="60000" lIns="100000" rIns="100000"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Segoe UI"/>
                        </a:rPr>
                        <a:t>ALL 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Card 97"/>
          <p:cNvSpPr/>
          <p:nvPr/>
        </p:nvSpPr>
        <p:spPr>
          <a:xfrm>
            <a:off x="800000" y="4400000"/>
            <a:ext cx="10592000" cy="170000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🧪 1-Click Live Viva Demo: Vacancy Exhaustion Defense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Demonstration Scenario: Hostel BH04 configured with exactly 1 vacancy.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1. Student A books the final room -&gt; Vacancy drops to 0; status automatically updates to FULL.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2. Student B attempts concurrent booking -&gt; System intercepts and throws VacancyExhaustedException.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3. Result: UI presents friendly alert; paper-register double-booking problem definitively solved.</a:t>
            </a:r>
          </a:p>
        </p:txBody>
      </p:sp>
      <p:sp>
        <p:nvSpPr>
          <p:cNvPr id="98" name="Footer 98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99" name="SlideNum 99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100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CHAPTER 5: CONCLUSION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Project Summary &amp; Future Roadmap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Summary of deliverables, academic learnings, and planned production enhancements</a:t>
            </a:r>
          </a:p>
        </p:txBody>
      </p:sp>
      <p:sp>
        <p:nvSpPr>
          <p:cNvPr id="101" name="Card 101"/>
          <p:cNvSpPr/>
          <p:nvPr/>
        </p:nvSpPr>
        <p:spPr>
          <a:xfrm>
            <a:off x="800000" y="1800000"/>
            <a:ext cx="51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🏆 Academic &amp; Practical Achievements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Key Project Takeaways: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Clean Object-Oriented Architecture: Applied all 4 core OOP pillars and 14 design patterns in a unified codebase.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Middleman Elimination: Directly connects students with verified wardens, saving ₹2,000 - ₹5,000 per admission.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Zero Demo Failure Risk: Dual-engine persistence and offline tile caching eliminate dependence on college Wi-Fi.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Strict Production Quality: 34 automated unit test cases ensuring 100% invariant compliance and zero regressions.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Real-World Impact: Ready for deployment across SCTCE Pappanamcode and neighboring engineering colleges.</a:t>
            </a:r>
          </a:p>
        </p:txBody>
      </p:sp>
      <p:sp>
        <p:nvSpPr>
          <p:cNvPr id="102" name="Card 102"/>
          <p:cNvSpPr/>
          <p:nvPr/>
        </p:nvSpPr>
        <p:spPr>
          <a:xfrm>
            <a:off x="6242000" y="1800000"/>
            <a:ext cx="5150000" cy="430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🚀 Future Enhancement Roadmap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Planned Architectural Enhancements: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Mobile Companion App: Cross-platform Flutter client for Android and iOS devices.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Automated Payment Gateway: Direct UPI (Google Pay, PhonePe) and Razorpay integration with automated receipts.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Push Notifications: Direct WhatsApp and SMS transactional messaging via Twilio API.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Direct Review Moderation: Sentiment analysis to detect fraudulent or retaliatory reviews.</a:t>
            </a:r>
          </a:p>
          <a:p>
            <a:r>
              <a:rPr sz="1200">
                <a:solidFill>
                  <a:srgbClr val="334155"/>
                </a:solidFill>
                <a:latin typeface="Segoe UI"/>
              </a:rPr>
              <a:t>• Multi-Campus Multi-Tenancy: Expanding schema to support CET, GEC Barton Hill, and Model Engineering College.</a:t>
            </a:r>
          </a:p>
        </p:txBody>
      </p:sp>
      <p:sp>
        <p:nvSpPr>
          <p:cNvPr id="103" name="Footer 103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104" name="SlideNum 104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Header 105"/>
          <p:cNvSpPr/>
          <p:nvPr/>
        </p:nvSpPr>
        <p:spPr>
          <a:xfrm>
            <a:off x="800000" y="500000"/>
            <a:ext cx="10592000" cy="1150000"/>
          </a:xfrm>
        </p:spPr>
        <p:txBody>
          <a:bodyPr tIns="0" bIns="0" lIns="0" rIns="0"/>
          <a:lstStyle/>
          <a:p>
            <a:r>
              <a:rPr sz="1100" b="1">
                <a:solidFill>
                  <a:srgbClr val="4338CA"/>
                </a:solidFill>
                <a:latin typeface="Segoe UI Semibold"/>
              </a:rPr>
              <a:t>VIVA VOCE PREPARATION</a:t>
            </a:r>
          </a:p>
          <a:p>
            <a:r>
              <a:rPr sz="2600" b="1">
                <a:solidFill>
                  <a:srgbClr val="1E293B"/>
                </a:solidFill>
                <a:latin typeface="Segoe UI Semibold"/>
              </a:rPr>
              <a:t>Viva Defense &amp; Examiner Q&amp;A Guide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Anticipated technical questions and authoritative engineering responses</a:t>
            </a:r>
          </a:p>
        </p:txBody>
      </p:sp>
      <p:sp>
        <p:nvSpPr>
          <p:cNvPr id="106" name="Card 106"/>
          <p:cNvSpPr/>
          <p:nvPr/>
        </p:nvSpPr>
        <p:spPr>
          <a:xfrm>
            <a:off x="800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Q1: Why Java Swing over JavaFX / Web?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Answer: Java Swing is built directly into the standard JDK without requiring external runtime modules.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It enables pixel-perfect custom Java2D rendering for geospatial map overlays and launches instantly with zero local server overhead.</a:t>
            </a:r>
          </a:p>
        </p:txBody>
      </p:sp>
      <p:sp>
        <p:nvSpPr>
          <p:cNvPr id="107" name="Card 107"/>
          <p:cNvSpPr/>
          <p:nvPr/>
        </p:nvSpPr>
        <p:spPr>
          <a:xfrm>
            <a:off x="6242000" y="18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Q2: Difference between State &amp; Strategy patterns?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Answer: Strategy (FilterStrategy) defines interchangeable algorithms chosen by the client.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State (EnquiryState) encapsulates internal transitions where the object automatically alters its behavior based on its current lifecycle phase.</a:t>
            </a:r>
          </a:p>
        </p:txBody>
      </p:sp>
      <p:sp>
        <p:nvSpPr>
          <p:cNvPr id="108" name="Card 108"/>
          <p:cNvSpPr/>
          <p:nvPr/>
        </p:nvSpPr>
        <p:spPr>
          <a:xfrm>
            <a:off x="800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Q3: How do you handle NoSQL / SQL injection?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Answer: We use strongly-typed BSON query filters (Filters.eq(), Filters.and()) and parameterized inputs.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Input sanitization in SecurityUtils guarantees user strings are treated purely as literal data values.</a:t>
            </a:r>
          </a:p>
        </p:txBody>
      </p:sp>
      <p:sp>
        <p:nvSpPr>
          <p:cNvPr id="109" name="Card 109"/>
          <p:cNvSpPr/>
          <p:nvPr/>
        </p:nvSpPr>
        <p:spPr>
          <a:xfrm>
            <a:off x="6242000" y="4000000"/>
            <a:ext cx="5150000" cy="2050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tIns="140000" bIns="140000" lIns="180000" rIns="180000"/>
          <a:lstStyle/>
          <a:p>
            <a:r>
              <a:rPr sz="1400" b="1">
                <a:solidFill>
                  <a:srgbClr val="1E293B"/>
                </a:solidFill>
                <a:latin typeface="Segoe UI Semibold"/>
              </a:rPr>
              <a:t>Q4: What if MongoDB goes down during viva?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Answer: Our Dual-Engine Repository catches MongoTimeoutException within 2 seconds and automatically activates FilePersistenceManager.</a:t>
            </a:r>
          </a:p>
          <a:p>
            <a:r>
              <a:rPr sz="1200" b="1">
                <a:solidFill>
                  <a:srgbClr val="0F172A"/>
                </a:solidFill>
                <a:latin typeface="Segoe UI Semibold"/>
              </a:rPr>
              <a:t>The entire application continues reading and writing to haven_store.json with zero downtime or data loss.</a:t>
            </a:r>
          </a:p>
        </p:txBody>
      </p:sp>
      <p:sp>
        <p:nvSpPr>
          <p:cNvPr id="110" name="Footer 110"/>
          <p:cNvSpPr/>
          <p:nvPr/>
        </p:nvSpPr>
        <p:spPr>
          <a:xfrm>
            <a:off x="800000" y="6300000"/>
            <a:ext cx="10592000" cy="350000"/>
          </a:xfrm>
        </p:spPr>
        <p:txBody>
          <a:bodyPr tIns="0" bIns="0" lIns="0" rIns="0"/>
          <a:lstStyle/>
          <a:p>
            <a:pPr algn="l"/>
            <a:r>
              <a:rPr sz="1050">
                <a:solidFill>
                  <a:srgbClr val="94A3B8"/>
                </a:solidFill>
                <a:latin typeface="Segoe UI"/>
              </a:rPr>
              <a:t>HAVEN • B.Tech Computer Science (S3 OOP Project Presentation)  |  SCTCE</a:t>
            </a:r>
          </a:p>
        </p:txBody>
      </p:sp>
      <p:sp>
        <p:nvSpPr>
          <p:cNvPr id="111" name="SlideNum 111"/>
          <p:cNvSpPr/>
          <p:nvPr/>
        </p:nvSpPr>
        <p:spPr>
          <a:xfrm>
            <a:off x="10000000" y="6300000"/>
            <a:ext cx="1392000" cy="350000"/>
          </a:xfrm>
        </p:spPr>
        <p:txBody>
          <a:bodyPr tIns="0" bIns="0" lIns="0" rIns="0"/>
          <a:lstStyle/>
          <a:p>
            <a:pPr algn="r"/>
            <a:r>
              <a:rPr sz="1100" b="1">
                <a:solidFill>
                  <a:srgbClr val="4338CA"/>
                </a:solidFill>
                <a:latin typeface="Segoe UI Semibold"/>
              </a:rPr>
              <a:t>Slide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293B"/>
      </a:dk1>
      <a:lt1>
        <a:srgbClr val="FFFFFF"/>
      </a:lt1>
      <a:dk2>
        <a:srgbClr val="334155"/>
      </a:dk2>
      <a:lt2>
        <a:srgbClr val="F8FAFC"/>
      </a:lt2>
      <a:accent1>
        <a:srgbClr val="4338CA"/>
      </a:accent1>
      <a:accent2>
        <a:srgbClr val="0284C7"/>
      </a:accent2>
      <a:accent3>
        <a:srgbClr val="059669"/>
      </a:accent3>
      <a:accent4>
        <a:srgbClr val="D97706"/>
      </a:accent4>
      <a:accent5>
        <a:srgbClr val="E11D48"/>
      </a:accent5>
      <a:accent6>
        <a:srgbClr val="7C3AED"/>
      </a:accent6>
      <a:hlink>
        <a:srgbClr val="2563EB"/>
      </a:hlink>
      <a:folHlink>
        <a:srgbClr val="9333EA"/>
      </a:folHlink>
    </a:clrScheme>
    <a:fontScheme name="Office">
      <a:majorFont>
        <a:latin typeface="Segoe UI Semibold"/>
      </a:majorFont>
      <a:minorFont>
        <a:latin typeface="Segoe U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